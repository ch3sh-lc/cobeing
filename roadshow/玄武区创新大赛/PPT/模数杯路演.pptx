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560320"/>
            <a:ext cx="1828800" cy="508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FFFFFF"/>
                </a:solidFill>
                <a:latin typeface="Microsoft YaHei"/>
              </a:defRPr>
            </a:pPr>
            <a:r>
              <a:t>CoBeing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B0C4DE"/>
                </a:solidFill>
                <a:latin typeface="Microsoft YaHei"/>
              </a:defRPr>
            </a:pPr>
            <a:r>
              <a:t>多智能体协作框架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D4FF"/>
                </a:solidFill>
                <a:latin typeface="Microsoft YaHei"/>
              </a:defRPr>
            </a:pPr>
            <a:r>
              <a:t>让 AI Agents 组队干活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B93"/>
                </a:solidFill>
                <a:latin typeface="Microsoft YaHei"/>
              </a:defRPr>
            </a:pPr>
            <a:r>
              <a:t>玄武区第二届"模数杯"AI创新挑战赛  |  AI智能体赛道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669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B93"/>
                </a:solidFill>
                <a:latin typeface="Microsoft YaHei"/>
              </a:defRPr>
            </a:pPr>
            <a:r>
              <a:t>2026年6月  |  ch3sh_lc@sjtu.edu.cn</a:t>
            </a:r>
          </a:p>
        </p:txBody>
      </p:sp>
      <p:sp>
        <p:nvSpPr>
          <p:cNvPr id="8" name="Oval 7"/>
          <p:cNvSpPr/>
          <p:nvPr/>
        </p:nvSpPr>
        <p:spPr>
          <a:xfrm>
            <a:off x="9601200" y="1371600"/>
            <a:ext cx="2743200" cy="2743200"/>
          </a:xfrm>
          <a:prstGeom prst="ellipse">
            <a:avLst/>
          </a:prstGeom>
          <a:solidFill>
            <a:srgbClr val="0A2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0" y="1828800"/>
            <a:ext cx="1828800" cy="1828800"/>
          </a:xfrm>
          <a:prstGeom prst="ellipse">
            <a:avLst/>
          </a:prstGeom>
          <a:solidFill>
            <a:srgbClr val="0D3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371600" cy="381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问题与机会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515600" cy="1097280"/>
          </a:xfrm>
          <a:prstGeom prst="roundRect">
            <a:avLst/>
          </a:prstGeom>
          <a:solidFill>
            <a:srgbClr val="16213A"/>
          </a:solidFill>
          <a:ln w="1905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00200"/>
            <a:ext cx="9875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4FF"/>
                </a:solidFill>
                <a:latin typeface="Microsoft YaHei"/>
              </a:defRPr>
            </a:pPr>
            <a:r>
              <a:t>"说一句帮我组建开发团队，AI自动创建需求分析师、架构师、工程师，</a:t>
            </a:r>
            <a:br/>
            <a:r>
              <a:t>像真实团队一样分工协作，交付成果。"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26080"/>
            <a:ext cx="3291840" cy="182880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" y="3154680"/>
            <a:ext cx="457200" cy="457200"/>
          </a:xfrm>
          <a:prstGeom prst="ellipse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31089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一问一答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749039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C4DE"/>
                </a:solidFill>
                <a:latin typeface="Microsoft YaHei"/>
              </a:defRPr>
            </a:pPr>
            <a:r>
              <a:t>当前AI助手停留在单轮对话</a:t>
            </a:r>
            <a:br/>
            <a:r>
              <a:t>无法处理复杂任务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926080"/>
            <a:ext cx="3291840" cy="182880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663440" y="3154680"/>
            <a:ext cx="457200" cy="457200"/>
          </a:xfrm>
          <a:prstGeom prst="ellipse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0" y="31089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预设流程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749039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C4DE"/>
                </a:solidFill>
                <a:latin typeface="Microsoft YaHei"/>
              </a:defRPr>
            </a:pPr>
            <a:r>
              <a:t>现有框架靠串行执行</a:t>
            </a:r>
            <a:br/>
            <a:r>
              <a:t>Agent缺乏真正自主沟通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926080"/>
            <a:ext cx="3291840" cy="182880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321040" y="3154680"/>
            <a:ext cx="457200" cy="457200"/>
          </a:xfrm>
          <a:prstGeom prst="ellipse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0" y="31089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零记忆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749039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C4DE"/>
                </a:solidFill>
                <a:latin typeface="Microsoft YaHei"/>
              </a:defRPr>
            </a:pPr>
            <a:r>
              <a:t>没有持久化记忆</a:t>
            </a:r>
            <a:br/>
            <a:r>
              <a:t>每次会话从零开始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120640"/>
            <a:ext cx="10515600" cy="1097280"/>
          </a:xfrm>
          <a:prstGeom prst="round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212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96"/>
                </a:solidFill>
                <a:latin typeface="Microsoft YaHei"/>
              </a:defRPr>
            </a:pPr>
            <a:r>
              <a:t>市场数据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B0C4DE"/>
                </a:solidFill>
                <a:latin typeface="Microsoft YaHei"/>
              </a:defRPr>
            </a:pPr>
            <a:r>
              <a:t>2025年全球AI Agent市场 65亿美元  |  年增长 40%+  |  预计2028年达 260亿美元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371600" cy="381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解决方案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4FF"/>
                </a:solidFill>
                <a:latin typeface="Microsoft YaHei"/>
              </a:defRPr>
            </a:pPr>
            <a:r>
              <a:t>CoBeing — 让AI Agent组队干活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C4DE"/>
                </a:solidFill>
                <a:latin typeface="Microsoft YaHei"/>
              </a:defRPr>
            </a:pPr>
            <a:r>
              <a:t>多智能体协作框架，用户用自然语言描述需求，系统自动组建AI团队、分配任务、协作执行。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2560320" cy="2926080"/>
          </a:xfrm>
          <a:prstGeom prst="roundRect">
            <a:avLst/>
          </a:prstGeom>
          <a:solidFill>
            <a:srgbClr val="16213A"/>
          </a:solidFill>
          <a:ln w="1905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45920" y="3017520"/>
            <a:ext cx="640080" cy="640080"/>
          </a:xfrm>
          <a:prstGeom prst="ellipse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840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零学习成本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9768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C4DE"/>
                </a:solidFill>
                <a:latin typeface="Microsoft YaHei"/>
              </a:defRPr>
            </a:pPr>
            <a:r>
              <a:t>对话即搭建</a:t>
            </a:r>
            <a:br/>
            <a:r>
              <a:t>管家帮你搞定一切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2743200"/>
            <a:ext cx="2560320" cy="2926080"/>
          </a:xfrm>
          <a:prstGeom prst="roundRect">
            <a:avLst/>
          </a:prstGeom>
          <a:solidFill>
            <a:srgbClr val="16213A"/>
          </a:solidFill>
          <a:ln w="19050">
            <a:solidFill>
              <a:srgbClr val="00E6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480560" y="3017520"/>
            <a:ext cx="640080" cy="640080"/>
          </a:xfrm>
          <a:prstGeom prst="ellipse">
            <a:avLst/>
          </a:prstGeom>
          <a:solidFill>
            <a:srgbClr val="00E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40" y="3840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长效记忆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429768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C4DE"/>
                </a:solidFill>
                <a:latin typeface="Microsoft YaHei"/>
              </a:defRPr>
            </a:pPr>
            <a:r>
              <a:t>Agent越用越懂你</a:t>
            </a:r>
            <a:br/>
            <a:r>
              <a:t>记忆跨对话不丢失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743200"/>
            <a:ext cx="2560320" cy="2926080"/>
          </a:xfrm>
          <a:prstGeom prst="roundRect">
            <a:avLst/>
          </a:prstGeom>
          <a:solidFill>
            <a:srgbClr val="16213A"/>
          </a:solidFill>
          <a:ln w="19050">
            <a:solidFill>
              <a:srgbClr val="FF9F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15200" y="3017520"/>
            <a:ext cx="640080" cy="640080"/>
          </a:xfrm>
          <a:prstGeom prst="ellipse">
            <a:avLst/>
          </a:prstGeom>
          <a:solidFill>
            <a:srgbClr val="FF9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3840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自主协作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29768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C4DE"/>
                </a:solidFill>
                <a:latin typeface="Microsoft YaHei"/>
              </a:defRPr>
            </a:pPr>
            <a:r>
              <a:t>Agent主动分工沟通</a:t>
            </a:r>
            <a:br/>
            <a:r>
              <a:t>TODO驱动自动交付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2743200"/>
            <a:ext cx="2560320" cy="2926080"/>
          </a:xfrm>
          <a:prstGeom prst="roundRect">
            <a:avLst/>
          </a:prstGeom>
          <a:solidFill>
            <a:srgbClr val="16213A"/>
          </a:solidFill>
          <a:ln w="19050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49840" y="3017520"/>
            <a:ext cx="640080" cy="640080"/>
          </a:xfrm>
          <a:prstGeom prst="ellipse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0" y="3840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本地优先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429768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C4DE"/>
                </a:solidFill>
                <a:latin typeface="Microsoft YaHei"/>
              </a:defRPr>
            </a:pPr>
            <a:r>
              <a:t>数据不上云</a:t>
            </a:r>
            <a:br/>
            <a:r>
              <a:t>隐私第一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371600" cy="381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核心功能展示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2011680" cy="320040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" y="1828800"/>
            <a:ext cx="640080" cy="640080"/>
          </a:xfrm>
          <a:prstGeom prst="ellipse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74519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F172A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用户发起请求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645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C4DE"/>
                </a:solidFill>
                <a:latin typeface="Microsoft YaHei"/>
              </a:defRPr>
            </a:pPr>
            <a:r>
              <a:t>"帮我组建一个开发团队</a:t>
            </a:r>
            <a:br/>
            <a:r>
              <a:t>做一个Todo应用"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1645920"/>
            <a:ext cx="2011680" cy="320040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383280" y="1828800"/>
            <a:ext cx="640080" cy="640080"/>
          </a:xfrm>
          <a:prstGeom prst="ellipse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874519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F172A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6517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管家分析需求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108960"/>
            <a:ext cx="1645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C4DE"/>
                </a:solidFill>
                <a:latin typeface="Microsoft YaHei"/>
              </a:defRPr>
            </a:pPr>
            <a:r>
              <a:t>推荐Agent角色</a:t>
            </a:r>
            <a:br/>
            <a:r>
              <a:t>创建团队成员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1645920"/>
            <a:ext cx="2011680" cy="320040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669280" y="1828800"/>
            <a:ext cx="640080" cy="640080"/>
          </a:xfrm>
          <a:prstGeom prst="ellipse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0" y="1874519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F172A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26517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群主分解任务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3108960"/>
            <a:ext cx="1645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C4DE"/>
                </a:solidFill>
                <a:latin typeface="Microsoft YaHei"/>
              </a:defRPr>
            </a:pPr>
            <a:r>
              <a:t>子任务分配</a:t>
            </a:r>
            <a:br/>
            <a:r>
              <a:t>依赖关系管理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0" y="1645920"/>
            <a:ext cx="2011680" cy="320040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955280" y="1828800"/>
            <a:ext cx="640080" cy="640080"/>
          </a:xfrm>
          <a:prstGeom prst="ellipse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80" y="1874519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F172A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0" y="26517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Agent协作执行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0" y="3108960"/>
            <a:ext cx="1645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C4DE"/>
                </a:solidFill>
                <a:latin typeface="Microsoft YaHei"/>
              </a:defRPr>
            </a:pPr>
            <a:r>
              <a:t>主动沟通 · 进度同步</a:t>
            </a:r>
            <a:br/>
            <a:r>
              <a:t>相互审核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01200" y="1645920"/>
            <a:ext cx="2011680" cy="320040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241280" y="1828800"/>
            <a:ext cx="640080" cy="640080"/>
          </a:xfrm>
          <a:prstGeom prst="ellipse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41280" y="1874519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F172A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80" y="26517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成果交付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0" y="3108960"/>
            <a:ext cx="1645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C4DE"/>
                </a:solidFill>
                <a:latin typeface="Microsoft YaHei"/>
              </a:defRPr>
            </a:pPr>
            <a:r>
              <a:t>代码 + 文档</a:t>
            </a:r>
            <a:br/>
            <a:r>
              <a:t>经验沉淀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68880" y="27432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4FF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27432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4FF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27432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4FF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27432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4FF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303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E696"/>
                </a:solidFill>
                <a:latin typeface="Microsoft YaHei"/>
              </a:defRPr>
            </a:pPr>
            <a:r>
              <a:t>记忆不丢失，经验可复用 —— Agent越用越懂你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371600" cy="381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技术架构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7772400" cy="822960"/>
          </a:xfrm>
          <a:prstGeom prst="roundRect">
            <a:avLst/>
          </a:prstGeom>
          <a:solidFill>
            <a:srgbClr val="16213A"/>
          </a:solidFill>
          <a:ln w="1905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087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4FF"/>
                </a:solidFill>
                <a:latin typeface="Microsoft YaHei"/>
              </a:defRPr>
            </a:pPr>
            <a:r>
              <a:t>用户层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7452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E"/>
                </a:solidFill>
                <a:latin typeface="Microsoft YaHei"/>
              </a:defRPr>
            </a:pPr>
            <a:r>
              <a:t>GUI (React 19 + Tauri 2.0)  |  QQ Bot  |  MCP 插件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68880"/>
            <a:ext cx="7772400" cy="822960"/>
          </a:xfrm>
          <a:prstGeom prst="roundRect">
            <a:avLst/>
          </a:prstGeom>
          <a:solidFill>
            <a:srgbClr val="16213A"/>
          </a:solidFill>
          <a:ln w="19050">
            <a:solidFill>
              <a:srgbClr val="00E6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5146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Microsoft YaHei"/>
              </a:defRPr>
            </a:pPr>
            <a:r>
              <a:t>管家层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8036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E"/>
                </a:solidFill>
                <a:latin typeface="Microsoft YaHei"/>
              </a:defRPr>
            </a:pPr>
            <a:r>
              <a:t>Butler Agent — 自然语言理解 → 需求分析 → Agent/群组管理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474720"/>
            <a:ext cx="7772400" cy="822960"/>
          </a:xfrm>
          <a:prstGeom prst="roundRect">
            <a:avLst/>
          </a:prstGeom>
          <a:solidFill>
            <a:srgbClr val="16213A"/>
          </a:solidFill>
          <a:ln w="19050">
            <a:solidFill>
              <a:srgbClr val="FF9F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5204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9F43"/>
                </a:solidFill>
                <a:latin typeface="Microsoft YaHei"/>
              </a:defRPr>
            </a:pPr>
            <a:r>
              <a:t>协作层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88620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E"/>
                </a:solidFill>
                <a:latin typeface="Microsoft YaHei"/>
              </a:defRPr>
            </a:pPr>
            <a:r>
              <a:t>群组工作组  |  WakeSystem事件队列  |  任务依赖链  |  投票表决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480560"/>
            <a:ext cx="7772400" cy="822960"/>
          </a:xfrm>
          <a:prstGeom prst="roundRect">
            <a:avLst/>
          </a:prstGeom>
          <a:solidFill>
            <a:srgbClr val="16213A"/>
          </a:solidFill>
          <a:ln w="19050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526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C5CFF"/>
                </a:solidFill>
                <a:latin typeface="Microsoft YaHei"/>
              </a:defRPr>
            </a:pPr>
            <a:r>
              <a:t>Agent层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89204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E"/>
                </a:solidFill>
                <a:latin typeface="Microsoft YaHei"/>
              </a:defRPr>
            </a:pPr>
            <a:r>
              <a:t>自治文件系统  |  对话循环  |  记忆引擎  |  技能系统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486400"/>
            <a:ext cx="7772400" cy="822960"/>
          </a:xfrm>
          <a:prstGeom prst="roundRect">
            <a:avLst/>
          </a:prstGeom>
          <a:solidFill>
            <a:srgbClr val="16213A"/>
          </a:solidFill>
          <a:ln w="19050">
            <a:solidFill>
              <a:srgbClr val="FF6B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5321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6B9D"/>
                </a:solidFill>
                <a:latin typeface="Microsoft YaHei"/>
              </a:defRPr>
            </a:pPr>
            <a:r>
              <a:t>基础设施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89788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C4DE"/>
                </a:solidFill>
                <a:latin typeface="Microsoft YaHei"/>
              </a:defRPr>
            </a:pPr>
            <a:r>
              <a:t>LLM网关(7家厂商)  |  工具系统  |  Docker沙箱  |  MCP客户端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61120" y="1463040"/>
            <a:ext cx="2743200" cy="484632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0" y="16459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D4FF"/>
                </a:solidFill>
                <a:latin typeface="Microsoft YaHei"/>
              </a:defRPr>
            </a:pPr>
            <a:r>
              <a:t>~25K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9659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B93"/>
                </a:solidFill>
                <a:latin typeface="Microsoft YaHei"/>
              </a:defRPr>
            </a:pPr>
            <a:r>
              <a:t>行TypeScript代码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24231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D4FF"/>
                </a:solidFill>
                <a:latin typeface="Microsoft YaHei"/>
              </a:defRPr>
            </a:pPr>
            <a:r>
              <a:t>417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7432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B93"/>
                </a:solidFill>
                <a:latin typeface="Microsoft YaHei"/>
              </a:defRPr>
            </a:pPr>
            <a:r>
              <a:t>个测试用例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32004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D4FF"/>
                </a:solidFill>
                <a:latin typeface="Microsoft YaHei"/>
              </a:defRPr>
            </a:pPr>
            <a:r>
              <a:t>43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35204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B93"/>
                </a:solidFill>
                <a:latin typeface="Microsoft YaHei"/>
              </a:defRPr>
            </a:pPr>
            <a:r>
              <a:t>个测试文件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3977639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D4FF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4297679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B93"/>
                </a:solidFill>
                <a:latin typeface="Microsoft YaHei"/>
              </a:defRPr>
            </a:pPr>
            <a:r>
              <a:t>家LLM厂商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47548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D4FF"/>
                </a:solidFill>
                <a:latin typeface="Microsoft YaHei"/>
              </a:defRPr>
            </a:pPr>
            <a:r>
              <a:t>50+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50749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B93"/>
                </a:solidFill>
                <a:latin typeface="Microsoft YaHei"/>
              </a:defRPr>
            </a:pPr>
            <a:r>
              <a:t>MCP工具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55321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D4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58521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B93"/>
                </a:solidFill>
                <a:latin typeface="Microsoft YaHei"/>
              </a:defRPr>
            </a:pPr>
            <a:r>
              <a:t>级权限系统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371600" cy="381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三大技术支柱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74720" cy="4572000"/>
          </a:xfrm>
          <a:prstGeom prst="roundRect">
            <a:avLst/>
          </a:prstGeom>
          <a:solidFill>
            <a:srgbClr val="16213A"/>
          </a:solidFill>
          <a:ln w="1905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011680" y="1737360"/>
            <a:ext cx="731520" cy="731520"/>
          </a:xfrm>
          <a:prstGeom prst="ellipse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Agent自治系统</a:t>
            </a:r>
          </a:p>
        </p:txBody>
      </p:sp>
      <p:sp>
        <p:nvSpPr>
          <p:cNvPr id="7" name="Rectangle 6"/>
          <p:cNvSpPr/>
          <p:nvPr/>
        </p:nvSpPr>
        <p:spPr>
          <a:xfrm>
            <a:off x="1463040" y="3108960"/>
            <a:ext cx="2011680" cy="254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3832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Microsoft YaHei"/>
              </a:defRPr>
            </a:pPr>
            <a:r>
              <a:t>•  8文件自治文件系统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023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Microsoft YaHei"/>
              </a:defRPr>
            </a:pPr>
            <a:r>
              <a:t>•  SOUL / CHARACTER / JOB / EXPERIENCE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663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Microsoft YaHei"/>
              </a:defRPr>
            </a:pPr>
            <a:r>
              <a:t>•  System Prompt 分文件构建链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3035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Microsoft YaHei"/>
              </a:defRPr>
            </a:pPr>
            <a:r>
              <a:t>•  Agent 通过对话自我进化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1463040"/>
            <a:ext cx="3474720" cy="4572000"/>
          </a:xfrm>
          <a:prstGeom prst="roundRect">
            <a:avLst/>
          </a:prstGeom>
          <a:solidFill>
            <a:srgbClr val="16213A"/>
          </a:solidFill>
          <a:ln w="19050">
            <a:solidFill>
              <a:srgbClr val="00E6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760719" y="1737360"/>
            <a:ext cx="731520" cy="731520"/>
          </a:xfrm>
          <a:prstGeom prst="ellipse">
            <a:avLst/>
          </a:prstGeom>
          <a:solidFill>
            <a:srgbClr val="00E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79" y="2651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事件驱动协作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12079" y="3108960"/>
            <a:ext cx="2011680" cy="25400"/>
          </a:xfrm>
          <a:prstGeom prst="rect">
            <a:avLst/>
          </a:prstGeom>
          <a:solidFill>
            <a:srgbClr val="00E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19" y="33832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Microsoft YaHei"/>
              </a:defRPr>
            </a:pPr>
            <a:r>
              <a:t>•  @mention 唤醒机制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19" y="4023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Microsoft YaHei"/>
              </a:defRPr>
            </a:pPr>
            <a:r>
              <a:t>•  WakeSystem 事件队列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19" y="4663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Microsoft YaHei"/>
              </a:defRPr>
            </a:pPr>
            <a:r>
              <a:t>•  三层上下文注入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19" y="53035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Microsoft YaHei"/>
              </a:defRPr>
            </a:pPr>
            <a:r>
              <a:t>•  子任务依赖链 + 投票表决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1463040"/>
            <a:ext cx="3474720" cy="4572000"/>
          </a:xfrm>
          <a:prstGeom prst="roundRect">
            <a:avLst/>
          </a:prstGeom>
          <a:solidFill>
            <a:srgbClr val="16213A"/>
          </a:solidFill>
          <a:ln w="19050">
            <a:solidFill>
              <a:srgbClr val="FF9F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509760" y="1737360"/>
            <a:ext cx="731520" cy="731520"/>
          </a:xfrm>
          <a:prstGeom prst="ellipse">
            <a:avLst/>
          </a:prstGeom>
          <a:solidFill>
            <a:srgbClr val="FF9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0" y="2651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安全沙箱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61120" y="3108960"/>
            <a:ext cx="2011680" cy="25400"/>
          </a:xfrm>
          <a:prstGeom prst="rect">
            <a:avLst/>
          </a:prstGeom>
          <a:solidFill>
            <a:srgbClr val="FF9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95360" y="33832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Microsoft YaHei"/>
              </a:defRPr>
            </a:pPr>
            <a:r>
              <a:t>•  Docker 容器隔离执行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4023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Microsoft YaHei"/>
              </a:defRPr>
            </a:pPr>
            <a:r>
              <a:t>•  5级权限系统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4663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Microsoft YaHei"/>
              </a:defRPr>
            </a:pPr>
            <a:r>
              <a:t>•  网络白名单 + 运行时检测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53035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Microsoft YaHei"/>
              </a:defRPr>
            </a:pPr>
            <a:r>
              <a:t>•  API Key AES-256-GCM 加密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371600" cy="381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与现有方案有何不同？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645920" cy="594360"/>
          </a:xfrm>
          <a:prstGeom prst="roundRect">
            <a:avLst/>
          </a:prstGeom>
          <a:solidFill>
            <a:srgbClr val="1A2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维度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77440" y="1463040"/>
            <a:ext cx="2011680" cy="594360"/>
          </a:xfrm>
          <a:prstGeom prst="roundRect">
            <a:avLst/>
          </a:prstGeom>
          <a:solidFill>
            <a:srgbClr val="1A2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77440" y="155448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AutoGPT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2011680" cy="594360"/>
          </a:xfrm>
          <a:prstGeom prst="roundRect">
            <a:avLst/>
          </a:prstGeom>
          <a:solidFill>
            <a:srgbClr val="1A2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55448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CrewAI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463040"/>
            <a:ext cx="2011680" cy="594360"/>
          </a:xfrm>
          <a:prstGeom prst="roundRect">
            <a:avLst/>
          </a:prstGeom>
          <a:solidFill>
            <a:srgbClr val="1A2D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5448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MetaGPT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1463040"/>
            <a:ext cx="2560320" cy="594360"/>
          </a:xfrm>
          <a:prstGeom prst="round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55448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CoBeing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057400"/>
            <a:ext cx="1645920" cy="59436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148840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架构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77440" y="2057400"/>
            <a:ext cx="2011680" cy="59436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77440" y="214884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C4DE"/>
                </a:solidFill>
                <a:latin typeface="Microsoft YaHei"/>
              </a:defRPr>
            </a:pPr>
            <a:r>
              <a:t>单Agent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2057400"/>
            <a:ext cx="2011680" cy="59436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214884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C4DE"/>
                </a:solidFill>
                <a:latin typeface="Microsoft YaHei"/>
              </a:defRPr>
            </a:pPr>
            <a:r>
              <a:t>预设流程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2057400"/>
            <a:ext cx="2011680" cy="59436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214884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C4DE"/>
                </a:solidFill>
                <a:latin typeface="Microsoft YaHei"/>
              </a:defRPr>
            </a:pPr>
            <a:r>
              <a:t>文档驱动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0" y="2057400"/>
            <a:ext cx="2560320" cy="594360"/>
          </a:xfrm>
          <a:prstGeom prst="roundRect">
            <a:avLst/>
          </a:prstGeom>
          <a:solidFill>
            <a:srgbClr val="0A2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0" y="214884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4FF"/>
                </a:solidFill>
                <a:latin typeface="Microsoft YaHei"/>
              </a:defRPr>
            </a:pPr>
            <a:r>
              <a:t>事件驱动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2651760"/>
            <a:ext cx="1645920" cy="59436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2743200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协作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377440" y="2651760"/>
            <a:ext cx="2011680" cy="59436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77440" y="274320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C4DE"/>
                </a:solidFill>
                <a:latin typeface="Microsoft YaHei"/>
              </a:defRPr>
            </a:pPr>
            <a:r>
              <a:t>无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89120" y="2651760"/>
            <a:ext cx="2011680" cy="59436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0" y="274320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C4DE"/>
                </a:solidFill>
                <a:latin typeface="Microsoft YaHei"/>
              </a:defRPr>
            </a:pPr>
            <a:r>
              <a:t>串行执行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2651760"/>
            <a:ext cx="2011680" cy="59436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274320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C4DE"/>
                </a:solidFill>
                <a:latin typeface="Microsoft YaHei"/>
              </a:defRPr>
            </a:pPr>
            <a:r>
              <a:t>角色固定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412480" y="2651760"/>
            <a:ext cx="2560320" cy="594360"/>
          </a:xfrm>
          <a:prstGeom prst="roundRect">
            <a:avLst/>
          </a:prstGeom>
          <a:solidFill>
            <a:srgbClr val="0A2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0" y="274320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4FF"/>
                </a:solidFill>
                <a:latin typeface="Microsoft YaHei"/>
              </a:defRPr>
            </a:pPr>
            <a:r>
              <a:t>自治群组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3246120"/>
            <a:ext cx="1645920" cy="59436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3337560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记忆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377440" y="3246120"/>
            <a:ext cx="2011680" cy="59436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377440" y="333756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C4DE"/>
                </a:solidFill>
                <a:latin typeface="Microsoft YaHei"/>
              </a:defRPr>
            </a:pPr>
            <a:r>
              <a:t>无持久化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89120" y="3246120"/>
            <a:ext cx="2011680" cy="59436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89120" y="333756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C4DE"/>
                </a:solidFill>
                <a:latin typeface="Microsoft YaHei"/>
              </a:defRPr>
            </a:pPr>
            <a:r>
              <a:t>短期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3246120"/>
            <a:ext cx="2011680" cy="59436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0" y="333756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C4DE"/>
                </a:solidFill>
                <a:latin typeface="Microsoft YaHei"/>
              </a:defRPr>
            </a:pPr>
            <a:r>
              <a:t>文档沉淀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412480" y="3246120"/>
            <a:ext cx="2560320" cy="594360"/>
          </a:xfrm>
          <a:prstGeom prst="roundRect">
            <a:avLst/>
          </a:prstGeom>
          <a:solidFill>
            <a:srgbClr val="0A2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12480" y="333756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4FF"/>
                </a:solidFill>
                <a:latin typeface="Microsoft YaHei"/>
              </a:defRPr>
            </a:pPr>
            <a:r>
              <a:t>分层记忆+经验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1520" y="3840480"/>
            <a:ext cx="1645920" cy="59436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520" y="3931920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厂商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377440" y="3840480"/>
            <a:ext cx="2011680" cy="59436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377440" y="393192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C4DE"/>
                </a:solidFill>
                <a:latin typeface="Microsoft YaHei"/>
              </a:defRPr>
            </a:pPr>
            <a:r>
              <a:t>绑定OpenAI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389120" y="3840480"/>
            <a:ext cx="2011680" cy="59436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89120" y="393192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C4DE"/>
                </a:solidFill>
                <a:latin typeface="Microsoft YaHei"/>
              </a:defRPr>
            </a:pPr>
            <a:r>
              <a:t>绑定OpenAI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00800" y="3840480"/>
            <a:ext cx="2011680" cy="59436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0" y="393192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C4DE"/>
                </a:solidFill>
                <a:latin typeface="Microsoft YaHei"/>
              </a:defRPr>
            </a:pPr>
            <a:r>
              <a:t>绑定OpenAI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412480" y="3840480"/>
            <a:ext cx="2560320" cy="594360"/>
          </a:xfrm>
          <a:prstGeom prst="roundRect">
            <a:avLst/>
          </a:prstGeom>
          <a:solidFill>
            <a:srgbClr val="0A2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12480" y="393192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4FF"/>
                </a:solidFill>
                <a:latin typeface="Microsoft YaHei"/>
              </a:defRPr>
            </a:pPr>
            <a:r>
              <a:t>7家国产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31520" y="4434840"/>
            <a:ext cx="1645920" cy="59436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31520" y="4526280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GUI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377440" y="4434840"/>
            <a:ext cx="2011680" cy="59436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377440" y="452628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C4DE"/>
                </a:solidFill>
                <a:latin typeface="Microsoft YaHei"/>
              </a:defRPr>
            </a:pPr>
            <a:r>
              <a:t>无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389120" y="4434840"/>
            <a:ext cx="2011680" cy="59436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389120" y="452628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C4DE"/>
                </a:solidFill>
                <a:latin typeface="Microsoft YaHei"/>
              </a:defRPr>
            </a:pPr>
            <a:r>
              <a:t>无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00800" y="4434840"/>
            <a:ext cx="2011680" cy="59436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00800" y="452628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C4DE"/>
                </a:solidFill>
                <a:latin typeface="Microsoft YaHei"/>
              </a:defRPr>
            </a:pPr>
            <a:r>
              <a:t>无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412480" y="4434840"/>
            <a:ext cx="2560320" cy="594360"/>
          </a:xfrm>
          <a:prstGeom prst="roundRect">
            <a:avLst/>
          </a:prstGeom>
          <a:solidFill>
            <a:srgbClr val="0A2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412480" y="452628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4FF"/>
                </a:solidFill>
                <a:latin typeface="Microsoft YaHei"/>
              </a:defRPr>
            </a:pPr>
            <a:r>
              <a:t>完整桌面应用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31520" y="5120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00E696"/>
                </a:solidFill>
                <a:latin typeface="Microsoft YaHei"/>
              </a:defRPr>
            </a:pPr>
            <a:r>
              <a:t>首个实现 "零门槛自然语言交互 + 长效记忆自主学习 + 事件驱动群组协作" 的国产框架</a:t>
            </a:r>
            <a:br/>
            <a:r>
              <a:t>支持 MCP 插件扩展接入真实业务场景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371600" cy="381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谁会用？怎么用？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74720" cy="4572000"/>
          </a:xfrm>
          <a:prstGeom prst="roundRect">
            <a:avLst/>
          </a:prstGeom>
          <a:solidFill>
            <a:srgbClr val="16213A"/>
          </a:solidFill>
          <a:ln w="1905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D4FF"/>
                </a:solidFill>
                <a:latin typeface="Microsoft YaHei"/>
              </a:defRPr>
            </a:pPr>
            <a:r>
              <a:t>个人开发者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2286000"/>
            <a:ext cx="2377440" cy="254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6517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0C4DE"/>
                </a:solidFill>
                <a:latin typeface="Microsoft YaHei"/>
              </a:defRPr>
            </a:pPr>
            <a:r>
              <a:t>"帮我写一个快排"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5661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0C4DE"/>
                </a:solidFill>
                <a:latin typeface="Microsoft YaHei"/>
              </a:defRPr>
            </a:pPr>
            <a:r>
              <a:t>管家直接完成，零配置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4805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0C4DE"/>
                </a:solidFill>
                <a:latin typeface="Microsoft YaHei"/>
              </a:defRPr>
            </a:pPr>
            <a:r>
              <a:t>开箱即用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1463040"/>
            <a:ext cx="3474720" cy="4572000"/>
          </a:xfrm>
          <a:prstGeom prst="roundRect">
            <a:avLst/>
          </a:prstGeom>
          <a:solidFill>
            <a:srgbClr val="16213A"/>
          </a:solidFill>
          <a:ln w="19050">
            <a:solidFill>
              <a:srgbClr val="00E6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79" y="17373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E696"/>
                </a:solidFill>
                <a:latin typeface="Microsoft YaHei"/>
              </a:defRPr>
            </a:pPr>
            <a:r>
              <a:t>小型团队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199" y="2286000"/>
            <a:ext cx="2377440" cy="25400"/>
          </a:xfrm>
          <a:prstGeom prst="rect">
            <a:avLst/>
          </a:prstGeom>
          <a:solidFill>
            <a:srgbClr val="00E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19" y="26517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0C4DE"/>
                </a:solidFill>
                <a:latin typeface="Microsoft YaHei"/>
              </a:defRPr>
            </a:pPr>
            <a:r>
              <a:t>"创建一个前端专家"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19" y="35661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0C4DE"/>
                </a:solidFill>
                <a:latin typeface="Microsoft YaHei"/>
              </a:defRPr>
            </a:pPr>
            <a:r>
              <a:t>定制专属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19" y="44805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0C4DE"/>
                </a:solidFill>
                <a:latin typeface="Microsoft YaHei"/>
              </a:defRPr>
            </a:pPr>
            <a:r>
              <a:t>越用越懂你的工作习惯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463040"/>
            <a:ext cx="3474720" cy="4572000"/>
          </a:xfrm>
          <a:prstGeom prst="roundRect">
            <a:avLst/>
          </a:prstGeom>
          <a:solidFill>
            <a:srgbClr val="16213A"/>
          </a:solidFill>
          <a:ln w="19050">
            <a:solidFill>
              <a:srgbClr val="FF9F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17373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9F43"/>
                </a:solidFill>
                <a:latin typeface="Microsoft YaHei"/>
              </a:defRPr>
            </a:pPr>
            <a:r>
              <a:t>复杂项目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78240" y="2286000"/>
            <a:ext cx="2377440" cy="25400"/>
          </a:xfrm>
          <a:prstGeom prst="rect">
            <a:avLst/>
          </a:prstGeom>
          <a:solidFill>
            <a:srgbClr val="FF9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0" y="26517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0C4DE"/>
                </a:solidFill>
                <a:latin typeface="Microsoft YaHei"/>
              </a:defRPr>
            </a:pPr>
            <a:r>
              <a:t>"组建开发团队做Todo应用"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35661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0C4DE"/>
                </a:solidFill>
                <a:latin typeface="Microsoft YaHei"/>
              </a:defRPr>
            </a:pPr>
            <a:r>
              <a:t>需求→架构→编码→测试→文档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44805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0C4DE"/>
                </a:solidFill>
                <a:latin typeface="Microsoft YaHei"/>
              </a:defRPr>
            </a:pPr>
            <a:r>
              <a:t>全流程 AI 协作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371600" cy="381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商业模式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74720" cy="4572000"/>
          </a:xfrm>
          <a:prstGeom prst="roundRect">
            <a:avLst/>
          </a:prstGeom>
          <a:solidFill>
            <a:srgbClr val="16213A"/>
          </a:solidFill>
          <a:ln w="1905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B93"/>
                </a:solidFill>
                <a:latin typeface="Microsoft YaHei"/>
              </a:defRPr>
            </a:pPr>
            <a:r>
              <a:t>阶段一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开源社区版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0160" y="2560320"/>
            <a:ext cx="2377440" cy="254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92608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Microsoft YaHei"/>
              </a:defRPr>
            </a:pPr>
            <a:r>
              <a:t>•  免费使用，积累用户和口碑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74904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Microsoft YaHei"/>
              </a:defRPr>
            </a:pPr>
            <a:r>
              <a:t>•  GitHub 开源，社区驱动迭代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5720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Microsoft YaHei"/>
              </a:defRPr>
            </a:pPr>
            <a:r>
              <a:t>•  建立开发者生态基础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1463040"/>
            <a:ext cx="3474720" cy="4572000"/>
          </a:xfrm>
          <a:prstGeom prst="roundRect">
            <a:avLst/>
          </a:prstGeom>
          <a:solidFill>
            <a:srgbClr val="16213A"/>
          </a:solidFill>
          <a:ln w="19050">
            <a:solidFill>
              <a:srgbClr val="00E6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79" y="16459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B93"/>
                </a:solidFill>
                <a:latin typeface="Microsoft YaHei"/>
              </a:defRPr>
            </a:pPr>
            <a:r>
              <a:t>阶段二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20116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企业版订阅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199" y="2560320"/>
            <a:ext cx="2377440" cy="25400"/>
          </a:xfrm>
          <a:prstGeom prst="rect">
            <a:avLst/>
          </a:prstGeom>
          <a:solidFill>
            <a:srgbClr val="00E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19" y="292608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Microsoft YaHei"/>
              </a:defRPr>
            </a:pPr>
            <a:r>
              <a:t>•  行业定制 Agent 模板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19" y="374904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Microsoft YaHei"/>
              </a:defRPr>
            </a:pPr>
            <a:r>
              <a:t>•  金融 / 医疗 / 教育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19" y="45720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Microsoft YaHei"/>
              </a:defRPr>
            </a:pPr>
            <a:r>
              <a:t>•  企业级安全合规 · 审计日志 · SSO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1463040"/>
            <a:ext cx="3474720" cy="4572000"/>
          </a:xfrm>
          <a:prstGeom prst="roundRect">
            <a:avLst/>
          </a:prstGeom>
          <a:solidFill>
            <a:srgbClr val="16213A"/>
          </a:solidFill>
          <a:ln w="19050">
            <a:solidFill>
              <a:srgbClr val="FF9F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16459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B93"/>
                </a:solidFill>
                <a:latin typeface="Microsoft YaHei"/>
              </a:defRPr>
            </a:pPr>
            <a:r>
              <a:t>阶段三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20116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Agent 市场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78240" y="2560320"/>
            <a:ext cx="2377440" cy="25400"/>
          </a:xfrm>
          <a:prstGeom prst="rect">
            <a:avLst/>
          </a:prstGeom>
          <a:solidFill>
            <a:srgbClr val="FF9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0" y="292608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Microsoft YaHei"/>
              </a:defRPr>
            </a:pPr>
            <a:r>
              <a:t>•  用户创建的 Agent/Skill 上架交易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374904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Microsoft YaHei"/>
              </a:defRPr>
            </a:pPr>
            <a:r>
              <a:t>•  平台抽佣，形成生态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45720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Microsoft YaHei"/>
              </a:defRPr>
            </a:pPr>
            <a:r>
              <a:t>•  开发者与用户双向价值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371600" cy="381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市场分析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029200" cy="457200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96"/>
                </a:solidFill>
                <a:latin typeface="Microsoft YaHei"/>
              </a:defRPr>
            </a:pPr>
            <a:r>
              <a:t>市场规模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2286000"/>
            <a:ext cx="4389120" cy="640080"/>
          </a:xfrm>
          <a:prstGeom prst="round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377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Microsoft YaHei"/>
              </a:defRPr>
            </a:pPr>
            <a:r>
              <a:t>2025年全球AI Agent市场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3774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00D4FF"/>
                </a:solidFill>
                <a:latin typeface="Microsoft YaHei"/>
              </a:defRPr>
            </a:pPr>
            <a:r>
              <a:t>65亿美元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3108960"/>
            <a:ext cx="4389120" cy="640080"/>
          </a:xfrm>
          <a:prstGeom prst="round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Microsoft YaHei"/>
              </a:defRPr>
            </a:pPr>
            <a:r>
              <a:t>年复合增长率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32004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00D4FF"/>
                </a:solidFill>
                <a:latin typeface="Microsoft YaHei"/>
              </a:defRPr>
            </a:pPr>
            <a:r>
              <a:t>42%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3931920"/>
            <a:ext cx="4389120" cy="640080"/>
          </a:xfrm>
          <a:prstGeom prst="round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40233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Microsoft YaHei"/>
              </a:defRPr>
            </a:pPr>
            <a:r>
              <a:t>2028年预计规模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40233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00D4FF"/>
                </a:solidFill>
                <a:latin typeface="Microsoft YaHei"/>
              </a:defRPr>
            </a:pPr>
            <a:r>
              <a:t>260亿美元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" y="4754880"/>
            <a:ext cx="4389120" cy="640080"/>
          </a:xfrm>
          <a:prstGeom prst="round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4846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Microsoft YaHei"/>
              </a:defRPr>
            </a:pPr>
            <a:r>
              <a:t>中国市场占比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4846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00D4FF"/>
                </a:solidFill>
                <a:latin typeface="Microsoft YaHei"/>
              </a:defRPr>
            </a:pPr>
            <a:r>
              <a:t>~25%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463040"/>
            <a:ext cx="5029200" cy="457200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16459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9F43"/>
                </a:solidFill>
                <a:latin typeface="Microsoft YaHei"/>
              </a:defRPr>
            </a:pPr>
            <a:r>
              <a:t>竞品格局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2286000"/>
            <a:ext cx="4389120" cy="731520"/>
          </a:xfrm>
          <a:prstGeom prst="round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0" y="23317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6B"/>
                </a:solidFill>
                <a:latin typeface="Microsoft YaHei"/>
              </a:defRPr>
            </a:pPr>
            <a:r>
              <a:t>AutoGPT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2606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C4DE"/>
                </a:solidFill>
                <a:latin typeface="Microsoft YaHei"/>
              </a:defRPr>
            </a:pPr>
            <a:r>
              <a:t>GitHub 170K star</a:t>
            </a:r>
            <a:br/>
            <a:r>
              <a:t>功能单一，无协作能力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0" y="3200400"/>
            <a:ext cx="4389120" cy="731520"/>
          </a:xfrm>
          <a:prstGeom prst="round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32461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6B"/>
                </a:solidFill>
                <a:latin typeface="Microsoft YaHei"/>
              </a:defRPr>
            </a:pPr>
            <a:r>
              <a:t>CrewAI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35204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C4DE"/>
                </a:solidFill>
                <a:latin typeface="Microsoft YaHei"/>
              </a:defRPr>
            </a:pPr>
            <a:r>
              <a:t>融资 $18M</a:t>
            </a:r>
            <a:br/>
            <a:r>
              <a:t>绑定 OpenAI，预设流程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0" y="4114800"/>
            <a:ext cx="4389120" cy="731520"/>
          </a:xfrm>
          <a:prstGeom prst="round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0" y="4160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B7B93"/>
                </a:solidFill>
                <a:latin typeface="Microsoft YaHei"/>
              </a:defRPr>
            </a:pPr>
            <a:r>
              <a:t>国内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44348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C4DE"/>
                </a:solidFill>
                <a:latin typeface="Microsoft YaHei"/>
              </a:defRPr>
            </a:pPr>
            <a:r>
              <a:t>暂无成熟的多Agent协作框架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0" y="5029200"/>
            <a:ext cx="4389120" cy="731520"/>
          </a:xfrm>
          <a:prstGeom prst="round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0" y="50749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96"/>
                </a:solidFill>
                <a:latin typeface="Microsoft YaHei"/>
              </a:defRPr>
            </a:pPr>
            <a:r>
              <a:t>CoBeing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53492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C4DE"/>
                </a:solidFill>
                <a:latin typeface="Microsoft YaHei"/>
              </a:defRPr>
            </a:pPr>
            <a:r>
              <a:t>国产化 + 多厂商 + 完整GUI</a:t>
            </a:r>
            <a:br/>
            <a:r>
              <a:t>填补市场空白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371600" cy="381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关于我们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0" y="1645920"/>
            <a:ext cx="7315200" cy="4572000"/>
          </a:xfrm>
          <a:prstGeom prst="roundRect">
            <a:avLst/>
          </a:prstGeom>
          <a:solidFill>
            <a:srgbClr val="16213A"/>
          </a:solidFill>
          <a:ln w="1905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743200" y="2057400"/>
            <a:ext cx="320040" cy="320040"/>
          </a:xfrm>
          <a:prstGeom prst="ellipse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91840" y="2011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  <a:latin typeface="Microsoft YaHei"/>
              </a:defRPr>
            </a:pPr>
            <a:r>
              <a:t>团队规模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20116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C4DE"/>
                </a:solidFill>
                <a:latin typeface="Microsoft YaHei"/>
              </a:defRPr>
            </a:pPr>
            <a:r>
              <a:t>个人开发者</a:t>
            </a:r>
          </a:p>
        </p:txBody>
      </p:sp>
      <p:sp>
        <p:nvSpPr>
          <p:cNvPr id="8" name="Oval 7"/>
          <p:cNvSpPr/>
          <p:nvPr/>
        </p:nvSpPr>
        <p:spPr>
          <a:xfrm>
            <a:off x="2743200" y="2880360"/>
            <a:ext cx="320040" cy="320040"/>
          </a:xfrm>
          <a:prstGeom prst="ellipse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2834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  <a:latin typeface="Microsoft YaHei"/>
              </a:defRPr>
            </a:pPr>
            <a:r>
              <a:t>项目投入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28346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C4DE"/>
                </a:solidFill>
                <a:latin typeface="Microsoft YaHei"/>
              </a:defRPr>
            </a:pPr>
            <a:r>
              <a:t>1-2个月密集开发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0" y="3703320"/>
            <a:ext cx="320040" cy="320040"/>
          </a:xfrm>
          <a:prstGeom prst="ellipse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3657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  <a:latin typeface="Microsoft YaHei"/>
              </a:defRPr>
            </a:pPr>
            <a:r>
              <a:t>技术栈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3657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C4DE"/>
                </a:solidFill>
                <a:latin typeface="Microsoft YaHei"/>
              </a:defRPr>
            </a:pPr>
            <a:r>
              <a:t>TypeScript 全栈，前后端 + AI 工程能力</a:t>
            </a:r>
          </a:p>
        </p:txBody>
      </p:sp>
      <p:sp>
        <p:nvSpPr>
          <p:cNvPr id="14" name="Oval 13"/>
          <p:cNvSpPr/>
          <p:nvPr/>
        </p:nvSpPr>
        <p:spPr>
          <a:xfrm>
            <a:off x="2743200" y="4526280"/>
            <a:ext cx="320040" cy="320040"/>
          </a:xfrm>
          <a:prstGeom prst="ellipse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0" y="4480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  <a:latin typeface="Microsoft YaHei"/>
              </a:defRPr>
            </a:pPr>
            <a:r>
              <a:t>代码规模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44805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C4DE"/>
                </a:solidFill>
                <a:latin typeface="Microsoft YaHei"/>
              </a:defRPr>
            </a:pPr>
            <a:r>
              <a:t>~25K 行代码，417 个测试用例</a:t>
            </a:r>
          </a:p>
        </p:txBody>
      </p:sp>
      <p:sp>
        <p:nvSpPr>
          <p:cNvPr id="17" name="Oval 16"/>
          <p:cNvSpPr/>
          <p:nvPr/>
        </p:nvSpPr>
        <p:spPr>
          <a:xfrm>
            <a:off x="2743200" y="5349240"/>
            <a:ext cx="320040" cy="320040"/>
          </a:xfrm>
          <a:prstGeom prst="ellipse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0" y="5303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  <a:latin typeface="Microsoft YaHei"/>
              </a:defRPr>
            </a:pPr>
            <a:r>
              <a:t>为什么能做成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53035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C4DE"/>
                </a:solidFill>
                <a:latin typeface="Microsoft YaHei"/>
              </a:defRPr>
            </a:pPr>
            <a:r>
              <a:t>深入调研竞品，从架构设计到代码实现全栈把控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371600" cy="381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项目进展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6858000" cy="475488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96"/>
                </a:solidFill>
                <a:latin typeface="Microsoft YaHei"/>
              </a:defRPr>
            </a:pPr>
            <a:r>
              <a:t>已完成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10312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Microsoft YaHei"/>
              </a:defRPr>
            </a:pPr>
            <a:r>
              <a:t>✓  核心框架开发完成（~25K行代码）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33472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Microsoft YaHei"/>
              </a:defRPr>
            </a:pPr>
            <a:r>
              <a:t>✓  7家国产大模型接入（DeepSeek/智谱/通义/MiniMax/豆包/Moonshot/MiMo）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163824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Microsoft YaHei"/>
              </a:defRPr>
            </a:pPr>
            <a:r>
              <a:t>✓  完整桌面GUI（React 19 + Tauri 2.0）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694175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Microsoft YaHei"/>
              </a:defRPr>
            </a:pPr>
            <a:r>
              <a:t>✓  群组协作全流程可用（任务分解/依赖链/投票/经验沉淀）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224527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Microsoft YaHei"/>
              </a:defRPr>
            </a:pPr>
            <a:r>
              <a:t>✓  Docker 安全沙箱 + 5级权限系统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754879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Microsoft YaHei"/>
              </a:defRPr>
            </a:pPr>
            <a:r>
              <a:t>✓  417 个测试用例全部通过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285231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C4DE"/>
                </a:solidFill>
                <a:latin typeface="Microsoft YaHei"/>
              </a:defRPr>
            </a:pPr>
            <a:r>
              <a:t>✓  QQ Bot 渠道对接 + MCP 插件系统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371600"/>
            <a:ext cx="3474720" cy="4754880"/>
          </a:xfrm>
          <a:prstGeom prst="roundRect">
            <a:avLst/>
          </a:prstGeom>
          <a:solidFill>
            <a:srgbClr val="0A2E50"/>
          </a:solidFill>
          <a:ln w="19050">
            <a:solidFill>
              <a:srgbClr val="00E6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22860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B7B93"/>
                </a:solidFill>
                <a:latin typeface="Microsoft YaHei"/>
              </a:defRPr>
            </a:pPr>
            <a:r>
              <a:t>当前状态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9260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E696"/>
                </a:solidFill>
                <a:latin typeface="Microsoft YaHei"/>
              </a:defRPr>
            </a:pPr>
            <a:r>
              <a:t>可演示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65760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C4DE"/>
                </a:solidFill>
                <a:latin typeface="Microsoft YaHei"/>
              </a:defRPr>
            </a:pPr>
            <a:r>
              <a:t>核心功能完整可用</a:t>
            </a:r>
            <a:br/>
            <a:r>
              <a:t>随时可以跑起来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371600" cy="381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发展规划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474720"/>
            <a:ext cx="10515600" cy="50800"/>
          </a:xfrm>
          <a:prstGeom prst="rect">
            <a:avLst/>
          </a:prstGeom>
          <a:solidFill>
            <a:srgbClr val="2A3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103120" y="3291840"/>
            <a:ext cx="365760" cy="365760"/>
          </a:xfrm>
          <a:prstGeom prst="ellipse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3474720" cy="2560320"/>
          </a:xfrm>
          <a:prstGeom prst="roundRect">
            <a:avLst/>
          </a:prstGeom>
          <a:solidFill>
            <a:srgbClr val="16213A"/>
          </a:solidFill>
          <a:ln w="1905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114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4FF"/>
                </a:solidFill>
                <a:latin typeface="Microsoft YaHei"/>
              </a:defRPr>
            </a:pPr>
            <a:r>
              <a:t>短期 · 3个月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754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Microsoft YaHei"/>
              </a:defRPr>
            </a:pPr>
            <a:r>
              <a:t>•  子智能体并行编排（DAG任务图）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3035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Microsoft YaHei"/>
              </a:defRPr>
            </a:pPr>
            <a:r>
              <a:t>•  更多通信渠道（微信、飞书）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852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Microsoft YaHei"/>
              </a:defRPr>
            </a:pPr>
            <a:r>
              <a:t>•  社区版开源发布</a:t>
            </a:r>
          </a:p>
        </p:txBody>
      </p:sp>
      <p:sp>
        <p:nvSpPr>
          <p:cNvPr id="11" name="Oval 10"/>
          <p:cNvSpPr/>
          <p:nvPr/>
        </p:nvSpPr>
        <p:spPr>
          <a:xfrm>
            <a:off x="5852159" y="3291840"/>
            <a:ext cx="365760" cy="365760"/>
          </a:xfrm>
          <a:prstGeom prst="ellipse">
            <a:avLst/>
          </a:prstGeom>
          <a:solidFill>
            <a:srgbClr val="00E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59" y="3931920"/>
            <a:ext cx="3474720" cy="2560320"/>
          </a:xfrm>
          <a:prstGeom prst="roundRect">
            <a:avLst/>
          </a:prstGeom>
          <a:solidFill>
            <a:srgbClr val="16213A"/>
          </a:solidFill>
          <a:ln w="19050">
            <a:solidFill>
              <a:srgbClr val="00E6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79" y="4114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E696"/>
                </a:solidFill>
                <a:latin typeface="Microsoft YaHei"/>
              </a:defRPr>
            </a:pPr>
            <a:r>
              <a:t>中期 · 1年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19" y="4754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Microsoft YaHei"/>
              </a:defRPr>
            </a:pPr>
            <a:r>
              <a:t>•  Agent 市场生态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19" y="53035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Microsoft YaHei"/>
              </a:defRPr>
            </a:pPr>
            <a:r>
              <a:t>•  企业版功能（审计/SSO/权限）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19" y="5852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Microsoft YaHei"/>
              </a:defRPr>
            </a:pPr>
            <a:r>
              <a:t>•  垂直行业 Agent 模板</a:t>
            </a:r>
          </a:p>
        </p:txBody>
      </p:sp>
      <p:sp>
        <p:nvSpPr>
          <p:cNvPr id="17" name="Oval 16"/>
          <p:cNvSpPr/>
          <p:nvPr/>
        </p:nvSpPr>
        <p:spPr>
          <a:xfrm>
            <a:off x="9601200" y="3291840"/>
            <a:ext cx="365760" cy="365760"/>
          </a:xfrm>
          <a:prstGeom prst="ellipse">
            <a:avLst/>
          </a:prstGeom>
          <a:solidFill>
            <a:srgbClr val="FF9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600" y="3931920"/>
            <a:ext cx="3474720" cy="2560320"/>
          </a:xfrm>
          <a:prstGeom prst="roundRect">
            <a:avLst/>
          </a:prstGeom>
          <a:solidFill>
            <a:srgbClr val="16213A"/>
          </a:solidFill>
          <a:ln w="19050">
            <a:solidFill>
              <a:srgbClr val="FF9F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4114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9F43"/>
                </a:solidFill>
                <a:latin typeface="Microsoft YaHei"/>
              </a:defRPr>
            </a:pPr>
            <a:r>
              <a:t>长期愿景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4754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Microsoft YaHei"/>
              </a:defRPr>
            </a:pPr>
            <a:r>
              <a:t>•  国产多Agent协作基础设施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53035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Microsoft YaHei"/>
              </a:defRPr>
            </a:pPr>
            <a:r>
              <a:t>•  构建 Agent 开发者生态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5852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Microsoft YaHei"/>
              </a:defRPr>
            </a:pPr>
            <a:r>
              <a:t>•  推动 AI 团队协作普及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371600" cy="381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资源需求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C4DE"/>
                </a:solidFill>
                <a:latin typeface="Microsoft YaHei"/>
              </a:defRPr>
            </a:pPr>
            <a:r>
              <a:t>如获奖 / 获得资助，资金将用于：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2560320" cy="3474720"/>
          </a:xfrm>
          <a:prstGeom prst="roundRect">
            <a:avLst/>
          </a:prstGeom>
          <a:solidFill>
            <a:srgbClr val="16213A"/>
          </a:solidFill>
          <a:ln w="1905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D4FF"/>
                </a:solidFill>
                <a:latin typeface="Microsoft YaHei"/>
              </a:defRPr>
            </a:pPr>
            <a:r>
              <a:t>30%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云服务器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C4DE"/>
                </a:solidFill>
                <a:latin typeface="Microsoft YaHei"/>
              </a:defRPr>
            </a:pPr>
            <a:r>
              <a:t>演示环境部署与运维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2286000"/>
            <a:ext cx="2560320" cy="3474720"/>
          </a:xfrm>
          <a:prstGeom prst="roundRect">
            <a:avLst/>
          </a:prstGeom>
          <a:solidFill>
            <a:srgbClr val="16213A"/>
          </a:solidFill>
          <a:ln w="19050">
            <a:solidFill>
              <a:srgbClr val="00E6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40" y="25603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E696"/>
                </a:solidFill>
                <a:latin typeface="Microsoft YaHei"/>
              </a:defRPr>
            </a:pPr>
            <a:r>
              <a:t>30%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33832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LLM API 额度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393192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C4DE"/>
                </a:solidFill>
                <a:latin typeface="Microsoft YaHei"/>
              </a:defRPr>
            </a:pPr>
            <a:r>
              <a:t>测试与模型调优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286000"/>
            <a:ext cx="2560320" cy="3474720"/>
          </a:xfrm>
          <a:prstGeom prst="roundRect">
            <a:avLst/>
          </a:prstGeom>
          <a:solidFill>
            <a:srgbClr val="16213A"/>
          </a:solidFill>
          <a:ln w="19050">
            <a:solidFill>
              <a:srgbClr val="FF9F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5603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9F43"/>
                </a:solidFill>
                <a:latin typeface="Microsoft YaHei"/>
              </a:defRPr>
            </a:pPr>
            <a:r>
              <a:t>20%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3832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社区运营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93192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C4DE"/>
                </a:solidFill>
                <a:latin typeface="Microsoft YaHei"/>
              </a:defRPr>
            </a:pPr>
            <a:r>
              <a:t>推广与开发者运营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2286000"/>
            <a:ext cx="2560320" cy="3474720"/>
          </a:xfrm>
          <a:prstGeom prst="roundRect">
            <a:avLst/>
          </a:prstGeom>
          <a:solidFill>
            <a:srgbClr val="16213A"/>
          </a:solidFill>
          <a:ln w="19050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0" y="25603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7C5CFF"/>
                </a:solidFill>
                <a:latin typeface="Microsoft YaHei"/>
              </a:defRPr>
            </a:pPr>
            <a:r>
              <a:t>20%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33832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安全审计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393192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C4DE"/>
                </a:solidFill>
                <a:latin typeface="Microsoft YaHei"/>
              </a:defRPr>
            </a:pPr>
            <a:r>
              <a:t>合规与安全加固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457200"/>
            <a:ext cx="3657600" cy="3657600"/>
          </a:xfrm>
          <a:prstGeom prst="ellipse">
            <a:avLst/>
          </a:prstGeom>
          <a:solidFill>
            <a:srgbClr val="0A2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4114800"/>
            <a:ext cx="3657600" cy="3657600"/>
          </a:xfrm>
          <a:prstGeom prst="ellipse">
            <a:avLst/>
          </a:prstGeom>
          <a:solidFill>
            <a:srgbClr val="0D3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0" y="1828800"/>
            <a:ext cx="3931920" cy="508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Microsoft YaHei"/>
              </a:defRPr>
            </a:pPr>
            <a:r>
              <a:t>CoBeing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D4FF"/>
                </a:solidFill>
                <a:latin typeface="Microsoft YaHei"/>
              </a:defRPr>
            </a:pPr>
            <a:r>
              <a:t>让 AI 组队干活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3840480"/>
            <a:ext cx="8503920" cy="109728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120" y="3977639"/>
            <a:ext cx="79552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C4DE"/>
                </a:solidFill>
                <a:latin typeface="Microsoft YaHei"/>
              </a:defRPr>
            </a:pPr>
            <a:r>
              <a:t>"未来的AI应用不是更聪明的聊天机器人，而是更默契的AI团队。</a:t>
            </a:r>
            <a:br/>
            <a:r>
              <a:t> CoBeing正在构建这个未来。"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035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B7B93"/>
                </a:solidFill>
                <a:latin typeface="Microsoft YaHei"/>
              </a:defRPr>
            </a:pPr>
            <a:r>
              <a:t>ch3sh_lc@sjtu.edu.cn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607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谢谢各位评委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